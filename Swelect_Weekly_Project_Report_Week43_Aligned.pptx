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Confidential. Prepared for Swelect Energy Systems Ltd by Dexler Energy.</a:t>
            </a:r>
            <a:endParaRPr lang="en-US" sz="850" dirty="0"/>
          </a:p>
        </p:txBody>
      </p:sp>
      <p:pic>
        <p:nvPicPr>
          <p:cNvPr id="3" name="Image 0" descr="H:\weekly progress application\extracted_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82880"/>
            <a:ext cx="182880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601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OF SOLAR POWER PLANTS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Project Report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066F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2024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43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920240" y="1938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week ending 17 Oct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6243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2843784"/>
            <a:ext cx="2331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Swelect Energy Systems Ltd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25146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6243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74720" y="2843784"/>
            <a:ext cx="2331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MW AC / 7 MWp DC ground-mount solar park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85876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4078224"/>
            <a:ext cx="2331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Pallaghatta, Karnataka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37560" y="37490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385876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 (COD)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74720" y="4078224"/>
            <a:ext cx="2331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Nov 2026 baseline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18 Dec 2026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120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Project Delivery, Dexler Energy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17920" y="96012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1" descr="H:\weekly progress application\extracted_media\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014984"/>
            <a:ext cx="5010912" cy="399592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72784" y="5010912"/>
            <a:ext cx="5010912" cy="329184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25" name="Text 21"/>
          <p:cNvSpPr/>
          <p:nvPr/>
        </p:nvSpPr>
        <p:spPr>
          <a:xfrm>
            <a:off x="6355080" y="50109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Pallaghatta 5MW Solar Park · Site Construction &amp; Commissioning Track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078992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Confidential. Prepared for Swelect Energy Systems Ltd by Dexler Energy.</a:t>
            </a:r>
            <a:endParaRPr lang="en-US" sz="850" dirty="0"/>
          </a:p>
        </p:txBody>
      </p:sp>
      <p:pic>
        <p:nvPicPr>
          <p:cNvPr id="3" name="Image 0" descr="H:\weekly progress application\extracted_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46304"/>
            <a:ext cx="164592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Timeline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0" y="475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Swelect Energy Systems Ltd  ·  Week 43  ·  17 Oct 2026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78992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03327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PROGRESS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580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74520" y="1261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66.1%  ·  -30.1% Behind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251960" y="9601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03327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COD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3891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577840" y="1261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Forecast: 63 days (+21d slip)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7955280" y="96012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103327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 DATE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09244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Nov 2026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281160" y="1261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COD: 18 Dec 2026  ·  HOTO: 31 Jan 2027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48640" y="1965960"/>
            <a:ext cx="649224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20391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Workstream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78892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Jul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8892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38328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Aug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38328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397764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Sep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97764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457200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Oct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516636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Nov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16636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576072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Dec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6072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6355080" y="20391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Jan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355080" y="2258568"/>
            <a:ext cx="0" cy="3154680"/>
          </a:xfrm>
          <a:prstGeom prst="line">
            <a:avLst/>
          </a:prstGeom>
          <a:noFill/>
          <a:ln w="6350">
            <a:solidFill>
              <a:srgbClr val="F1F5F9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4898898" y="2240280"/>
            <a:ext cx="0" cy="3172968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4670298" y="20574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TODAY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85800" y="2313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Land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2788920" y="2350008"/>
            <a:ext cx="1664208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2788920" y="2350008"/>
            <a:ext cx="549189" cy="109728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40" name="Text 37"/>
          <p:cNvSpPr/>
          <p:nvPr/>
        </p:nvSpPr>
        <p:spPr>
          <a:xfrm>
            <a:off x="4498848" y="2313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33%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594360" y="2532888"/>
            <a:ext cx="6400800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39"/>
          <p:cNvSpPr/>
          <p:nvPr/>
        </p:nvSpPr>
        <p:spPr>
          <a:xfrm>
            <a:off x="685800" y="25511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Approvals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037076" y="2587752"/>
            <a:ext cx="1723644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4" name="Shape 41"/>
          <p:cNvSpPr/>
          <p:nvPr/>
        </p:nvSpPr>
        <p:spPr>
          <a:xfrm>
            <a:off x="4037076" y="2587752"/>
            <a:ext cx="34473" cy="109728"/>
          </a:xfrm>
          <a:prstGeom prst="roundRect">
            <a:avLst>
              <a:gd name="adj" fmla="val 53050"/>
            </a:avLst>
          </a:prstGeom>
          <a:solidFill>
            <a:srgbClr val="EF4444"/>
          </a:solidFill>
          <a:ln/>
        </p:spPr>
      </p:sp>
      <p:sp>
        <p:nvSpPr>
          <p:cNvPr id="45" name="Text 42"/>
          <p:cNvSpPr/>
          <p:nvPr/>
        </p:nvSpPr>
        <p:spPr>
          <a:xfrm>
            <a:off x="5806440" y="25511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2%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685800" y="2788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CEIG Approval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4572000" y="2825496"/>
            <a:ext cx="653796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8" name="Shape 45"/>
          <p:cNvSpPr/>
          <p:nvPr/>
        </p:nvSpPr>
        <p:spPr>
          <a:xfrm>
            <a:off x="4572000" y="2825496"/>
            <a:ext cx="32690" cy="109728"/>
          </a:xfrm>
          <a:prstGeom prst="roundRect">
            <a:avLst>
              <a:gd name="adj" fmla="val 55944"/>
            </a:avLst>
          </a:prstGeom>
          <a:solidFill>
            <a:srgbClr val="EF4444"/>
          </a:solidFill>
          <a:ln/>
        </p:spPr>
      </p:sp>
      <p:sp>
        <p:nvSpPr>
          <p:cNvPr id="49" name="Text 46"/>
          <p:cNvSpPr/>
          <p:nvPr/>
        </p:nvSpPr>
        <p:spPr>
          <a:xfrm>
            <a:off x="5271516" y="27889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5%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594360" y="3008376"/>
            <a:ext cx="6400800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8"/>
          <p:cNvSpPr/>
          <p:nvPr/>
        </p:nvSpPr>
        <p:spPr>
          <a:xfrm>
            <a:off x="685800" y="30266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WBA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572000" y="3063240"/>
            <a:ext cx="59436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53" name="Text 50"/>
          <p:cNvSpPr/>
          <p:nvPr/>
        </p:nvSpPr>
        <p:spPr>
          <a:xfrm>
            <a:off x="5212080" y="302666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0%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685800" y="32644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Bay Work</a:t>
            </a:r>
            <a:endParaRPr lang="en-US" sz="720" dirty="0"/>
          </a:p>
        </p:txBody>
      </p:sp>
      <p:sp>
        <p:nvSpPr>
          <p:cNvPr id="55" name="Shape 52"/>
          <p:cNvSpPr/>
          <p:nvPr/>
        </p:nvSpPr>
        <p:spPr>
          <a:xfrm>
            <a:off x="4572000" y="3300984"/>
            <a:ext cx="950976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56" name="Text 53"/>
          <p:cNvSpPr/>
          <p:nvPr/>
        </p:nvSpPr>
        <p:spPr>
          <a:xfrm>
            <a:off x="5568696" y="32644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0%</a:t>
            </a:r>
            <a:endParaRPr lang="en-US" sz="680" dirty="0"/>
          </a:p>
        </p:txBody>
      </p:sp>
      <p:sp>
        <p:nvSpPr>
          <p:cNvPr id="57" name="Shape 54"/>
          <p:cNvSpPr/>
          <p:nvPr/>
        </p:nvSpPr>
        <p:spPr>
          <a:xfrm>
            <a:off x="594360" y="3483864"/>
            <a:ext cx="6400800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5"/>
          <p:cNvSpPr/>
          <p:nvPr/>
        </p:nvSpPr>
        <p:spPr>
          <a:xfrm>
            <a:off x="685800" y="3502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Transmission Line</a:t>
            </a:r>
            <a:endParaRPr lang="en-US" sz="720" dirty="0"/>
          </a:p>
        </p:txBody>
      </p:sp>
      <p:sp>
        <p:nvSpPr>
          <p:cNvPr id="59" name="Shape 56"/>
          <p:cNvSpPr/>
          <p:nvPr/>
        </p:nvSpPr>
        <p:spPr>
          <a:xfrm>
            <a:off x="4155948" y="3538728"/>
            <a:ext cx="59436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60" name="Shape 57"/>
          <p:cNvSpPr/>
          <p:nvPr/>
        </p:nvSpPr>
        <p:spPr>
          <a:xfrm>
            <a:off x="4155948" y="3538728"/>
            <a:ext cx="309067" cy="109728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61" name="Text 58"/>
          <p:cNvSpPr/>
          <p:nvPr/>
        </p:nvSpPr>
        <p:spPr>
          <a:xfrm>
            <a:off x="4796028" y="35021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52%</a:t>
            </a:r>
            <a:endParaRPr lang="en-US" sz="680" dirty="0"/>
          </a:p>
        </p:txBody>
      </p:sp>
      <p:sp>
        <p:nvSpPr>
          <p:cNvPr id="62" name="Text 59"/>
          <p:cNvSpPr/>
          <p:nvPr/>
        </p:nvSpPr>
        <p:spPr>
          <a:xfrm>
            <a:off x="685800" y="3739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Site Land Prep</a:t>
            </a:r>
            <a:endParaRPr lang="en-US" sz="720" dirty="0"/>
          </a:p>
        </p:txBody>
      </p:sp>
      <p:sp>
        <p:nvSpPr>
          <p:cNvPr id="63" name="Shape 60"/>
          <p:cNvSpPr/>
          <p:nvPr/>
        </p:nvSpPr>
        <p:spPr>
          <a:xfrm>
            <a:off x="4037076" y="3776472"/>
            <a:ext cx="18288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64" name="Shape 61"/>
          <p:cNvSpPr/>
          <p:nvPr/>
        </p:nvSpPr>
        <p:spPr>
          <a:xfrm>
            <a:off x="4037076" y="3776472"/>
            <a:ext cx="182880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65" name="Text 62"/>
          <p:cNvSpPr/>
          <p:nvPr/>
        </p:nvSpPr>
        <p:spPr>
          <a:xfrm>
            <a:off x="4265676" y="373989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0B981"/>
                </a:solidFill>
              </a:rPr>
              <a:t>100%</a:t>
            </a:r>
            <a:endParaRPr lang="en-US" sz="680" dirty="0"/>
          </a:p>
        </p:txBody>
      </p:sp>
      <p:sp>
        <p:nvSpPr>
          <p:cNvPr id="66" name="Shape 63"/>
          <p:cNvSpPr/>
          <p:nvPr/>
        </p:nvSpPr>
        <p:spPr>
          <a:xfrm>
            <a:off x="594360" y="3959352"/>
            <a:ext cx="6400800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Text 64"/>
          <p:cNvSpPr/>
          <p:nvPr/>
        </p:nvSpPr>
        <p:spPr>
          <a:xfrm>
            <a:off x="685800" y="39776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Detailed Engineering</a:t>
            </a:r>
            <a:endParaRPr lang="en-US" sz="720" dirty="0"/>
          </a:p>
        </p:txBody>
      </p:sp>
      <p:sp>
        <p:nvSpPr>
          <p:cNvPr id="68" name="Shape 65"/>
          <p:cNvSpPr/>
          <p:nvPr/>
        </p:nvSpPr>
        <p:spPr>
          <a:xfrm>
            <a:off x="4037076" y="4014216"/>
            <a:ext cx="356616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69" name="Shape 66"/>
          <p:cNvSpPr/>
          <p:nvPr/>
        </p:nvSpPr>
        <p:spPr>
          <a:xfrm>
            <a:off x="4037076" y="4014216"/>
            <a:ext cx="356616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70" name="Text 67"/>
          <p:cNvSpPr/>
          <p:nvPr/>
        </p:nvSpPr>
        <p:spPr>
          <a:xfrm>
            <a:off x="4439412" y="39776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0B981"/>
                </a:solidFill>
              </a:rPr>
              <a:t>100%</a:t>
            </a:r>
            <a:endParaRPr lang="en-US" sz="680" dirty="0"/>
          </a:p>
        </p:txBody>
      </p:sp>
      <p:sp>
        <p:nvSpPr>
          <p:cNvPr id="71" name="Text 68"/>
          <p:cNvSpPr/>
          <p:nvPr/>
        </p:nvSpPr>
        <p:spPr>
          <a:xfrm>
            <a:off x="685800" y="42153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Procurement &amp; Delivery</a:t>
            </a:r>
            <a:endParaRPr lang="en-US" sz="720" dirty="0"/>
          </a:p>
        </p:txBody>
      </p:sp>
      <p:sp>
        <p:nvSpPr>
          <p:cNvPr id="72" name="Shape 69"/>
          <p:cNvSpPr/>
          <p:nvPr/>
        </p:nvSpPr>
        <p:spPr>
          <a:xfrm>
            <a:off x="3442716" y="4251960"/>
            <a:ext cx="1901952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73" name="Shape 70"/>
          <p:cNvSpPr/>
          <p:nvPr/>
        </p:nvSpPr>
        <p:spPr>
          <a:xfrm>
            <a:off x="3442716" y="4251960"/>
            <a:ext cx="646664" cy="109728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74" name="Text 71"/>
          <p:cNvSpPr/>
          <p:nvPr/>
        </p:nvSpPr>
        <p:spPr>
          <a:xfrm>
            <a:off x="5390388" y="42153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34%</a:t>
            </a:r>
            <a:endParaRPr lang="en-US" sz="680" dirty="0"/>
          </a:p>
        </p:txBody>
      </p:sp>
      <p:sp>
        <p:nvSpPr>
          <p:cNvPr id="75" name="Shape 72"/>
          <p:cNvSpPr/>
          <p:nvPr/>
        </p:nvSpPr>
        <p:spPr>
          <a:xfrm>
            <a:off x="594360" y="4434840"/>
            <a:ext cx="6400800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Text 73"/>
          <p:cNvSpPr/>
          <p:nvPr/>
        </p:nvSpPr>
        <p:spPr>
          <a:xfrm>
            <a:off x="685800" y="44531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Construction</a:t>
            </a:r>
            <a:endParaRPr lang="en-US" sz="720" dirty="0"/>
          </a:p>
        </p:txBody>
      </p:sp>
      <p:sp>
        <p:nvSpPr>
          <p:cNvPr id="77" name="Shape 74"/>
          <p:cNvSpPr/>
          <p:nvPr/>
        </p:nvSpPr>
        <p:spPr>
          <a:xfrm>
            <a:off x="4274820" y="4489704"/>
            <a:ext cx="1545336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78" name="Shape 75"/>
          <p:cNvSpPr/>
          <p:nvPr/>
        </p:nvSpPr>
        <p:spPr>
          <a:xfrm>
            <a:off x="4274820" y="4489704"/>
            <a:ext cx="339974" cy="109728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79" name="Text 76"/>
          <p:cNvSpPr/>
          <p:nvPr/>
        </p:nvSpPr>
        <p:spPr>
          <a:xfrm>
            <a:off x="5865876" y="44531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22%</a:t>
            </a:r>
            <a:endParaRPr lang="en-US" sz="680" dirty="0"/>
          </a:p>
        </p:txBody>
      </p:sp>
      <p:sp>
        <p:nvSpPr>
          <p:cNvPr id="80" name="Text 77"/>
          <p:cNvSpPr/>
          <p:nvPr/>
        </p:nvSpPr>
        <p:spPr>
          <a:xfrm>
            <a:off x="685800" y="4690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Handover (HOTO)</a:t>
            </a:r>
            <a:endParaRPr lang="en-US" sz="720" dirty="0"/>
          </a:p>
        </p:txBody>
      </p:sp>
      <p:sp>
        <p:nvSpPr>
          <p:cNvPr id="81" name="Shape 78"/>
          <p:cNvSpPr/>
          <p:nvPr/>
        </p:nvSpPr>
        <p:spPr>
          <a:xfrm>
            <a:off x="5701284" y="4727448"/>
            <a:ext cx="356616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82" name="Text 79"/>
          <p:cNvSpPr/>
          <p:nvPr/>
        </p:nvSpPr>
        <p:spPr>
          <a:xfrm>
            <a:off x="6103620" y="46908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0%</a:t>
            </a:r>
            <a:endParaRPr lang="en-US" sz="680" dirty="0"/>
          </a:p>
        </p:txBody>
      </p:sp>
      <p:sp>
        <p:nvSpPr>
          <p:cNvPr id="83" name="Shape 80"/>
          <p:cNvSpPr/>
          <p:nvPr/>
        </p:nvSpPr>
        <p:spPr>
          <a:xfrm>
            <a:off x="594360" y="4910328"/>
            <a:ext cx="6400800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4" name="Text 81"/>
          <p:cNvSpPr/>
          <p:nvPr/>
        </p:nvSpPr>
        <p:spPr>
          <a:xfrm>
            <a:off x="685800" y="49286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Compound Wall</a:t>
            </a:r>
            <a:endParaRPr lang="en-US" sz="720" dirty="0"/>
          </a:p>
        </p:txBody>
      </p:sp>
      <p:sp>
        <p:nvSpPr>
          <p:cNvPr id="85" name="Shape 82"/>
          <p:cNvSpPr/>
          <p:nvPr/>
        </p:nvSpPr>
        <p:spPr>
          <a:xfrm>
            <a:off x="4096512" y="4965192"/>
            <a:ext cx="1010412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86" name="Shape 83"/>
          <p:cNvSpPr/>
          <p:nvPr/>
        </p:nvSpPr>
        <p:spPr>
          <a:xfrm>
            <a:off x="4096512" y="4965192"/>
            <a:ext cx="505206" cy="109728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7" name="Text 84"/>
          <p:cNvSpPr/>
          <p:nvPr/>
        </p:nvSpPr>
        <p:spPr>
          <a:xfrm>
            <a:off x="5152644" y="49286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50%</a:t>
            </a:r>
            <a:endParaRPr lang="en-US" sz="680" dirty="0"/>
          </a:p>
        </p:txBody>
      </p:sp>
      <p:sp>
        <p:nvSpPr>
          <p:cNvPr id="88" name="Shape 85"/>
          <p:cNvSpPr/>
          <p:nvPr/>
        </p:nvSpPr>
        <p:spPr>
          <a:xfrm>
            <a:off x="731520" y="5522976"/>
            <a:ext cx="146304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9" name="Text 86"/>
          <p:cNvSpPr/>
          <p:nvPr/>
        </p:nvSpPr>
        <p:spPr>
          <a:xfrm>
            <a:off x="914400" y="54864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Progress to date</a:t>
            </a:r>
            <a:endParaRPr lang="en-US" sz="700" dirty="0"/>
          </a:p>
        </p:txBody>
      </p:sp>
      <p:sp>
        <p:nvSpPr>
          <p:cNvPr id="90" name="Shape 87"/>
          <p:cNvSpPr/>
          <p:nvPr/>
        </p:nvSpPr>
        <p:spPr>
          <a:xfrm>
            <a:off x="2011680" y="5522976"/>
            <a:ext cx="146304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1" name="Text 88"/>
          <p:cNvSpPr/>
          <p:nvPr/>
        </p:nvSpPr>
        <p:spPr>
          <a:xfrm>
            <a:off x="2194560" y="54864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Behind schedule</a:t>
            </a:r>
            <a:endParaRPr lang="en-US" sz="700" dirty="0"/>
          </a:p>
        </p:txBody>
      </p:sp>
      <p:sp>
        <p:nvSpPr>
          <p:cNvPr id="92" name="Shape 89"/>
          <p:cNvSpPr/>
          <p:nvPr/>
        </p:nvSpPr>
        <p:spPr>
          <a:xfrm>
            <a:off x="3291840" y="5522976"/>
            <a:ext cx="146304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3" name="Text 90"/>
          <p:cNvSpPr/>
          <p:nvPr/>
        </p:nvSpPr>
        <p:spPr>
          <a:xfrm>
            <a:off x="3474720" y="54864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Complete</a:t>
            </a:r>
            <a:endParaRPr lang="en-US" sz="700" dirty="0"/>
          </a:p>
        </p:txBody>
      </p:sp>
      <p:sp>
        <p:nvSpPr>
          <p:cNvPr id="94" name="Shape 91"/>
          <p:cNvSpPr/>
          <p:nvPr/>
        </p:nvSpPr>
        <p:spPr>
          <a:xfrm>
            <a:off x="4389120" y="5568696"/>
            <a:ext cx="182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95" name="Text 92"/>
          <p:cNvSpPr/>
          <p:nvPr/>
        </p:nvSpPr>
        <p:spPr>
          <a:xfrm>
            <a:off x="4617720" y="548640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Planned position today</a:t>
            </a:r>
            <a:endParaRPr lang="en-US" sz="700" dirty="0"/>
          </a:p>
        </p:txBody>
      </p:sp>
      <p:sp>
        <p:nvSpPr>
          <p:cNvPr id="96" name="Shape 93"/>
          <p:cNvSpPr/>
          <p:nvPr/>
        </p:nvSpPr>
        <p:spPr>
          <a:xfrm>
            <a:off x="7223760" y="1965960"/>
            <a:ext cx="4114800" cy="3794760"/>
          </a:xfrm>
          <a:prstGeom prst="roundRect">
            <a:avLst>
              <a:gd name="adj" fmla="val 144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7406640" y="20756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A00"/>
                </a:solidFill>
              </a:rPr>
              <a:t>KEY STAGE MILESTONES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7406640" y="23865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99" name="Text 96"/>
          <p:cNvSpPr/>
          <p:nvPr/>
        </p:nvSpPr>
        <p:spPr>
          <a:xfrm>
            <a:off x="7406640" y="2386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7790688" y="23500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CEIG approval</a:t>
            </a:r>
            <a:endParaRPr lang="en-US" sz="820" dirty="0"/>
          </a:p>
        </p:txBody>
      </p:sp>
      <p:sp>
        <p:nvSpPr>
          <p:cNvPr id="101" name="Text 98"/>
          <p:cNvSpPr/>
          <p:nvPr/>
        </p:nvSpPr>
        <p:spPr>
          <a:xfrm>
            <a:off x="7790688" y="255117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Delayed / Critical Path</a:t>
            </a:r>
            <a:endParaRPr lang="en-US" sz="700" dirty="0"/>
          </a:p>
        </p:txBody>
      </p:sp>
      <p:sp>
        <p:nvSpPr>
          <p:cNvPr id="102" name="Text 99"/>
          <p:cNvSpPr/>
          <p:nvPr/>
        </p:nvSpPr>
        <p:spPr>
          <a:xfrm>
            <a:off x="10012680" y="239572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04 Nov 26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7406640" y="28254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406640" y="2880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105" name="Text 102"/>
          <p:cNvSpPr/>
          <p:nvPr/>
        </p:nvSpPr>
        <p:spPr>
          <a:xfrm>
            <a:off x="740664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7790688" y="28437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PV module installation</a:t>
            </a:r>
            <a:endParaRPr lang="en-US" sz="820" dirty="0"/>
          </a:p>
        </p:txBody>
      </p:sp>
      <p:sp>
        <p:nvSpPr>
          <p:cNvPr id="107" name="Text 104"/>
          <p:cNvSpPr/>
          <p:nvPr/>
        </p:nvSpPr>
        <p:spPr>
          <a:xfrm>
            <a:off x="7790688" y="30449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In Progress</a:t>
            </a:r>
            <a:endParaRPr lang="en-US" sz="700" dirty="0"/>
          </a:p>
        </p:txBody>
      </p:sp>
      <p:sp>
        <p:nvSpPr>
          <p:cNvPr id="108" name="Text 105"/>
          <p:cNvSpPr/>
          <p:nvPr/>
        </p:nvSpPr>
        <p:spPr>
          <a:xfrm>
            <a:off x="10012680" y="2889504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06 Nov 26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7406640" y="33192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7406640" y="33741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111" name="Text 108"/>
          <p:cNvSpPr/>
          <p:nvPr/>
        </p:nvSpPr>
        <p:spPr>
          <a:xfrm>
            <a:off x="7406640" y="3374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7790688" y="33375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Bay work completion</a:t>
            </a:r>
            <a:endParaRPr lang="en-US" sz="820" dirty="0"/>
          </a:p>
        </p:txBody>
      </p:sp>
      <p:sp>
        <p:nvSpPr>
          <p:cNvPr id="113" name="Text 110"/>
          <p:cNvSpPr/>
          <p:nvPr/>
        </p:nvSpPr>
        <p:spPr>
          <a:xfrm>
            <a:off x="7790688" y="35387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Critical Path</a:t>
            </a:r>
            <a:endParaRPr lang="en-US" sz="700" dirty="0"/>
          </a:p>
        </p:txBody>
      </p:sp>
      <p:sp>
        <p:nvSpPr>
          <p:cNvPr id="114" name="Text 111"/>
          <p:cNvSpPr/>
          <p:nvPr/>
        </p:nvSpPr>
        <p:spPr>
          <a:xfrm>
            <a:off x="10012680" y="338328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17 Nov 26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7406640" y="381304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406640" y="3867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117" name="Text 114"/>
          <p:cNvSpPr/>
          <p:nvPr/>
        </p:nvSpPr>
        <p:spPr>
          <a:xfrm>
            <a:off x="7406640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790688" y="38313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Synchronisation approval</a:t>
            </a:r>
            <a:endParaRPr lang="en-US" sz="820" dirty="0"/>
          </a:p>
        </p:txBody>
      </p:sp>
      <p:sp>
        <p:nvSpPr>
          <p:cNvPr id="119" name="Text 116"/>
          <p:cNvSpPr/>
          <p:nvPr/>
        </p:nvSpPr>
        <p:spPr>
          <a:xfrm>
            <a:off x="7790688" y="403250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Statutory Gate</a:t>
            </a:r>
            <a:endParaRPr lang="en-US" sz="700" dirty="0"/>
          </a:p>
        </p:txBody>
      </p:sp>
      <p:sp>
        <p:nvSpPr>
          <p:cNvPr id="120" name="Text 117"/>
          <p:cNvSpPr/>
          <p:nvPr/>
        </p:nvSpPr>
        <p:spPr>
          <a:xfrm>
            <a:off x="10012680" y="3877056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27 Nov 26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7406640" y="430682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7406640" y="43616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123" name="Text 120"/>
          <p:cNvSpPr/>
          <p:nvPr/>
        </p:nvSpPr>
        <p:spPr>
          <a:xfrm>
            <a:off x="7406640" y="4361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7790688" y="43251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Commissioning (COD)</a:t>
            </a:r>
            <a:endParaRPr lang="en-US" sz="820" dirty="0"/>
          </a:p>
        </p:txBody>
      </p:sp>
      <p:sp>
        <p:nvSpPr>
          <p:cNvPr id="125" name="Text 122"/>
          <p:cNvSpPr/>
          <p:nvPr/>
        </p:nvSpPr>
        <p:spPr>
          <a:xfrm>
            <a:off x="7790688" y="452628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Contractual COD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012680" y="437083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A00"/>
                </a:solidFill>
              </a:rPr>
              <a:t>28 Nov 26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7406640" y="480060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406640" y="48554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129" name="Text 126"/>
          <p:cNvSpPr/>
          <p:nvPr/>
        </p:nvSpPr>
        <p:spPr>
          <a:xfrm>
            <a:off x="7406640" y="4855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7790688" y="4818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Final handover (HOTO)</a:t>
            </a:r>
            <a:endParaRPr lang="en-US" sz="820" dirty="0"/>
          </a:p>
        </p:txBody>
      </p:sp>
      <p:sp>
        <p:nvSpPr>
          <p:cNvPr id="131" name="Text 128"/>
          <p:cNvSpPr/>
          <p:nvPr/>
        </p:nvSpPr>
        <p:spPr>
          <a:xfrm>
            <a:off x="7790688" y="50200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Final Handover</a:t>
            </a:r>
            <a:endParaRPr lang="en-US" sz="700" dirty="0"/>
          </a:p>
        </p:txBody>
      </p:sp>
      <p:sp>
        <p:nvSpPr>
          <p:cNvPr id="132" name="Text 129"/>
          <p:cNvSpPr/>
          <p:nvPr/>
        </p:nvSpPr>
        <p:spPr>
          <a:xfrm>
            <a:off x="10012680" y="486460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15 Dec 26</a:t>
            </a:r>
            <a:endParaRPr lang="en-US" sz="850" dirty="0"/>
          </a:p>
        </p:txBody>
      </p:sp>
      <p:sp>
        <p:nvSpPr>
          <p:cNvPr id="133" name="Text 130"/>
          <p:cNvSpPr/>
          <p:nvPr/>
        </p:nvSpPr>
        <p:spPr>
          <a:xfrm>
            <a:off x="7406640" y="5486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64748B"/>
                </a:solidFill>
              </a:rPr>
              <a:t>Source: Swelect Gantt sheet · 12 workstreams · 6 milestone gates strictly bounded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Confidential. Prepared for Swelect Energy Systems Ltd by Dexler Energy.</a:t>
            </a:r>
            <a:endParaRPr lang="en-US" sz="850" dirty="0"/>
          </a:p>
        </p:txBody>
      </p:sp>
      <p:pic>
        <p:nvPicPr>
          <p:cNvPr id="3" name="Image 0" descr="H:\weekly progress application\extracted_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46304"/>
            <a:ext cx="164592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Detail  ·  week ending 17 Oct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0" y="475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Swelect Energy Systems Ltd  ·  Week 43  ·  17 Oct 2026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78992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0789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754880"/>
                <a:gridCol w="1371600"/>
                <a:gridCol w="274320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WBS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Task / Activity Name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Planned Finish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Status &amp; Delay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Progress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1.1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TB Meeting &amp; Bay Estimate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19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20 d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1.2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New GO Application for Additional 2 MW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23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16 d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30%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1.3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NA Conversion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25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14 d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1.4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Hudbast survey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25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14 d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1.5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Bay Work Payment Intimation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25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14 d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1.6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Bay Work Taken Approval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01 Oct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8 d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2.1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DC cables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25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14 d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40%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2.2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Control room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25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EF4444"/>
                          </a:solidFill>
                        </a:rPr>
                        <a:t>Delayed 14 d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3.1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Transmission Line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10 Oct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In progress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50%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2.3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Inverter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15 Oct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In progress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35%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2.4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Inverter Transformer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17 Oct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7A00"/>
                          </a:solidFill>
                        </a:rPr>
                        <a:t>In progress · CP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0066FF"/>
                          </a:solidFill>
                        </a:rPr>
                        <a:t>35%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4.1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MCS Drawing, Street Light, SCADA cable Laying (Drawings)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23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B981"/>
                          </a:solidFill>
                        </a:rPr>
                        <a:t>Completed 30 Sep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10B981"/>
                          </a:solidFill>
                        </a:rPr>
                        <a:t>100%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4.2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F172A"/>
                          </a:solidFill>
                        </a:rPr>
                        <a:t>Solar Module (Supply)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64748B"/>
                          </a:solidFill>
                        </a:rPr>
                        <a:t>28 Sep 26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0B981"/>
                          </a:solidFill>
                        </a:rPr>
                        <a:t>Completed 25 Sep</a:t>
                      </a:r>
                      <a:endParaRPr lang="en-US" sz="780" dirty="0"/>
                    </a:p>
                  </a:txBody>
                  <a:tcPr marL="76200" marR="762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10B981"/>
                          </a:solidFill>
                        </a:rPr>
                        <a:t>100%</a:t>
                      </a:r>
                      <a:endParaRPr lang="en-US" sz="780" dirty="0"/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71500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+ 18 further open items in the project Gantt  ·  Complete weekly schedule tracked in single 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Confidential. Prepared for Swelect Energy Systems Ltd by Dexler Energy.</a:t>
            </a:r>
            <a:endParaRPr lang="en-US" sz="850" dirty="0"/>
          </a:p>
        </p:txBody>
      </p:sp>
      <p:pic>
        <p:nvPicPr>
          <p:cNvPr id="3" name="Image 0" descr="H:\weekly progress application\extracted_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46304"/>
            <a:ext cx="164592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Progress &amp; Next Two Weeks Look-Ahead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0" y="475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Swelect Energy Systems Ltd  ·  Week 43  ·  17 Oct 2026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78992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3383280" cy="224028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H:\weekly progress application\extracted_media\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3291840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" y="2852928"/>
            <a:ext cx="3291840" cy="310896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28529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Switchyard &amp; Control Room Civil Works</a:t>
            </a:r>
            <a:endParaRPr lang="en-US" sz="720" dirty="0"/>
          </a:p>
        </p:txBody>
      </p:sp>
      <p:sp>
        <p:nvSpPr>
          <p:cNvPr id="11" name="Shape 7"/>
          <p:cNvSpPr/>
          <p:nvPr/>
        </p:nvSpPr>
        <p:spPr>
          <a:xfrm>
            <a:off x="4251960" y="960120"/>
            <a:ext cx="3383280" cy="224028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2" descr="H:\weekly progress application\extracted_media\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05840"/>
            <a:ext cx="3291840" cy="18288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97680" y="2852928"/>
            <a:ext cx="3291840" cy="310896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14" name="Text 9"/>
          <p:cNvSpPr/>
          <p:nvPr/>
        </p:nvSpPr>
        <p:spPr>
          <a:xfrm>
            <a:off x="4343400" y="28529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Solar Array Area &amp; Transmission Line Route</a:t>
            </a:r>
            <a:endParaRPr lang="en-US" sz="720" dirty="0"/>
          </a:p>
        </p:txBody>
      </p:sp>
      <p:sp>
        <p:nvSpPr>
          <p:cNvPr id="15" name="Shape 10"/>
          <p:cNvSpPr/>
          <p:nvPr/>
        </p:nvSpPr>
        <p:spPr>
          <a:xfrm>
            <a:off x="7955280" y="960120"/>
            <a:ext cx="3383280" cy="224028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3" descr="H:\weekly progress application\extracted_media\image5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291840" cy="18288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01000" y="2852928"/>
            <a:ext cx="3291840" cy="310896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18" name="Text 12"/>
          <p:cNvSpPr/>
          <p:nvPr/>
        </p:nvSpPr>
        <p:spPr>
          <a:xfrm>
            <a:off x="8046720" y="28529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Inverter &amp; Transformer Foundation Yard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548640" y="3337560"/>
            <a:ext cx="10789920" cy="24231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5800" y="342900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A00"/>
                </a:solidFill>
              </a:rPr>
              <a:t>NEXT TWO WEEKS LOOK-AHEAD EXECUTION PLAN (14-DAY CRITICAL SCHEDULE)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731520" y="3721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2" name="Text 16"/>
          <p:cNvSpPr/>
          <p:nvPr/>
        </p:nvSpPr>
        <p:spPr>
          <a:xfrm>
            <a:off x="960120" y="3666744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Transmission Line work in progress</a:t>
            </a:r>
            <a:endParaRPr lang="en-US" sz="780" dirty="0"/>
          </a:p>
        </p:txBody>
      </p:sp>
      <p:sp>
        <p:nvSpPr>
          <p:cNvPr id="23" name="Shape 17"/>
          <p:cNvSpPr/>
          <p:nvPr/>
        </p:nvSpPr>
        <p:spPr>
          <a:xfrm>
            <a:off x="8229600" y="3694176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0" y="36941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Critical Path</a:t>
            </a:r>
            <a:endParaRPr lang="en-US" sz="680" dirty="0"/>
          </a:p>
        </p:txBody>
      </p:sp>
      <p:sp>
        <p:nvSpPr>
          <p:cNvPr id="25" name="Text 19"/>
          <p:cNvSpPr/>
          <p:nvPr/>
        </p:nvSpPr>
        <p:spPr>
          <a:xfrm>
            <a:off x="98298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Due 10 Oct</a:t>
            </a:r>
            <a:endParaRPr lang="en-US" sz="780" dirty="0"/>
          </a:p>
        </p:txBody>
      </p:sp>
      <p:sp>
        <p:nvSpPr>
          <p:cNvPr id="26" name="Shape 20"/>
          <p:cNvSpPr/>
          <p:nvPr/>
        </p:nvSpPr>
        <p:spPr>
          <a:xfrm>
            <a:off x="640080" y="3913632"/>
            <a:ext cx="1060704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1"/>
          <p:cNvSpPr/>
          <p:nvPr/>
        </p:nvSpPr>
        <p:spPr>
          <a:xfrm>
            <a:off x="731520" y="39867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8" name="Text 22"/>
          <p:cNvSpPr/>
          <p:nvPr/>
        </p:nvSpPr>
        <p:spPr>
          <a:xfrm>
            <a:off x="960120" y="3931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TAQC Inspection for PCVCB &amp; Metering Panel (CP)</a:t>
            </a:r>
            <a:endParaRPr lang="en-US" sz="780" dirty="0"/>
          </a:p>
        </p:txBody>
      </p:sp>
      <p:sp>
        <p:nvSpPr>
          <p:cNvPr id="29" name="Shape 23"/>
          <p:cNvSpPr/>
          <p:nvPr/>
        </p:nvSpPr>
        <p:spPr>
          <a:xfrm>
            <a:off x="8229600" y="3959352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229600" y="39593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Critical Path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982980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Due 12 Oct</a:t>
            </a:r>
            <a:endParaRPr lang="en-US" sz="780" dirty="0"/>
          </a:p>
        </p:txBody>
      </p:sp>
      <p:sp>
        <p:nvSpPr>
          <p:cNvPr id="32" name="Shape 26"/>
          <p:cNvSpPr/>
          <p:nvPr/>
        </p:nvSpPr>
        <p:spPr>
          <a:xfrm>
            <a:off x="731520" y="42519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33" name="Text 27"/>
          <p:cNvSpPr/>
          <p:nvPr/>
        </p:nvSpPr>
        <p:spPr>
          <a:xfrm>
            <a:off x="960120" y="4197096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Excavation work for DC and AC cable trench</a:t>
            </a:r>
            <a:endParaRPr lang="en-US" sz="780" dirty="0"/>
          </a:p>
        </p:txBody>
      </p:sp>
      <p:sp>
        <p:nvSpPr>
          <p:cNvPr id="34" name="Shape 28"/>
          <p:cNvSpPr/>
          <p:nvPr/>
        </p:nvSpPr>
        <p:spPr>
          <a:xfrm>
            <a:off x="8229600" y="4224528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229600" y="42245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66FF"/>
                </a:solidFill>
              </a:rPr>
              <a:t>Civil Works</a:t>
            </a:r>
            <a:endParaRPr lang="en-US" sz="680" dirty="0"/>
          </a:p>
        </p:txBody>
      </p:sp>
      <p:sp>
        <p:nvSpPr>
          <p:cNvPr id="36" name="Text 30"/>
          <p:cNvSpPr/>
          <p:nvPr/>
        </p:nvSpPr>
        <p:spPr>
          <a:xfrm>
            <a:off x="9829800" y="41970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Due 13 Oct</a:t>
            </a:r>
            <a:endParaRPr lang="en-US" sz="780" dirty="0"/>
          </a:p>
        </p:txBody>
      </p:sp>
      <p:sp>
        <p:nvSpPr>
          <p:cNvPr id="37" name="Shape 31"/>
          <p:cNvSpPr/>
          <p:nvPr/>
        </p:nvSpPr>
        <p:spPr>
          <a:xfrm>
            <a:off x="640080" y="4443984"/>
            <a:ext cx="1060704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2"/>
          <p:cNvSpPr/>
          <p:nvPr/>
        </p:nvSpPr>
        <p:spPr>
          <a:xfrm>
            <a:off x="731520" y="45171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9" name="Text 33"/>
          <p:cNvSpPr/>
          <p:nvPr/>
        </p:nvSpPr>
        <p:spPr>
          <a:xfrm>
            <a:off x="960120" y="446227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Foundation of Inverter, Transformer, HT panel (CP) work in progress</a:t>
            </a:r>
            <a:endParaRPr lang="en-US" sz="780" dirty="0"/>
          </a:p>
        </p:txBody>
      </p:sp>
      <p:sp>
        <p:nvSpPr>
          <p:cNvPr id="40" name="Shape 34"/>
          <p:cNvSpPr/>
          <p:nvPr/>
        </p:nvSpPr>
        <p:spPr>
          <a:xfrm>
            <a:off x="8229600" y="4489704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229600" y="44897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F4444"/>
                </a:solidFill>
              </a:rPr>
              <a:t>Critical Path</a:t>
            </a:r>
            <a:endParaRPr lang="en-US" sz="680" dirty="0"/>
          </a:p>
        </p:txBody>
      </p:sp>
      <p:sp>
        <p:nvSpPr>
          <p:cNvPr id="42" name="Text 36"/>
          <p:cNvSpPr/>
          <p:nvPr/>
        </p:nvSpPr>
        <p:spPr>
          <a:xfrm>
            <a:off x="9829800" y="4462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Due 15 Oct</a:t>
            </a:r>
            <a:endParaRPr lang="en-US" sz="780" dirty="0"/>
          </a:p>
        </p:txBody>
      </p:sp>
      <p:sp>
        <p:nvSpPr>
          <p:cNvPr id="43" name="Shape 37"/>
          <p:cNvSpPr/>
          <p:nvPr/>
        </p:nvSpPr>
        <p:spPr>
          <a:xfrm>
            <a:off x="731520" y="4782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4" name="Text 38"/>
          <p:cNvSpPr/>
          <p:nvPr/>
        </p:nvSpPr>
        <p:spPr>
          <a:xfrm>
            <a:off x="960120" y="472744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Inverter delivery</a:t>
            </a:r>
            <a:endParaRPr lang="en-US" sz="780" dirty="0"/>
          </a:p>
        </p:txBody>
      </p:sp>
      <p:sp>
        <p:nvSpPr>
          <p:cNvPr id="45" name="Shape 39"/>
          <p:cNvSpPr/>
          <p:nvPr/>
        </p:nvSpPr>
        <p:spPr>
          <a:xfrm>
            <a:off x="8229600" y="4754880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229600" y="4754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59E0B"/>
                </a:solidFill>
              </a:rPr>
              <a:t>Procurement</a:t>
            </a:r>
            <a:endParaRPr lang="en-US" sz="680" dirty="0"/>
          </a:p>
        </p:txBody>
      </p:sp>
      <p:sp>
        <p:nvSpPr>
          <p:cNvPr id="47" name="Text 41"/>
          <p:cNvSpPr/>
          <p:nvPr/>
        </p:nvSpPr>
        <p:spPr>
          <a:xfrm>
            <a:off x="9829800" y="4727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Start 17 Oct</a:t>
            </a:r>
            <a:endParaRPr lang="en-US" sz="780" dirty="0"/>
          </a:p>
        </p:txBody>
      </p:sp>
      <p:sp>
        <p:nvSpPr>
          <p:cNvPr id="48" name="Shape 42"/>
          <p:cNvSpPr/>
          <p:nvPr/>
        </p:nvSpPr>
        <p:spPr>
          <a:xfrm>
            <a:off x="640080" y="4974336"/>
            <a:ext cx="10607040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3"/>
          <p:cNvSpPr/>
          <p:nvPr/>
        </p:nvSpPr>
        <p:spPr>
          <a:xfrm>
            <a:off x="731520" y="50474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</p:sp>
      <p:sp>
        <p:nvSpPr>
          <p:cNvPr id="50" name="Text 44"/>
          <p:cNvSpPr/>
          <p:nvPr/>
        </p:nvSpPr>
        <p:spPr>
          <a:xfrm>
            <a:off x="960120" y="4992624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Cable inspection is going delivery by 22nd Oct</a:t>
            </a:r>
            <a:endParaRPr lang="en-US" sz="780" dirty="0"/>
          </a:p>
        </p:txBody>
      </p:sp>
      <p:sp>
        <p:nvSpPr>
          <p:cNvPr id="51" name="Shape 45"/>
          <p:cNvSpPr/>
          <p:nvPr/>
        </p:nvSpPr>
        <p:spPr>
          <a:xfrm>
            <a:off x="8229600" y="5020056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8229600" y="502005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66FF"/>
                </a:solidFill>
              </a:rPr>
              <a:t>Inspection FAT</a:t>
            </a:r>
            <a:endParaRPr lang="en-US" sz="680" dirty="0"/>
          </a:p>
        </p:txBody>
      </p:sp>
      <p:sp>
        <p:nvSpPr>
          <p:cNvPr id="53" name="Text 47"/>
          <p:cNvSpPr/>
          <p:nvPr/>
        </p:nvSpPr>
        <p:spPr>
          <a:xfrm>
            <a:off x="9829800" y="4992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Starts 22 Oct</a:t>
            </a:r>
            <a:endParaRPr lang="en-US" sz="780" dirty="0"/>
          </a:p>
        </p:txBody>
      </p:sp>
      <p:sp>
        <p:nvSpPr>
          <p:cNvPr id="54" name="Shape 48"/>
          <p:cNvSpPr/>
          <p:nvPr/>
        </p:nvSpPr>
        <p:spPr>
          <a:xfrm>
            <a:off x="731520" y="53126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5" name="Text 49"/>
          <p:cNvSpPr/>
          <p:nvPr/>
        </p:nvSpPr>
        <p:spPr>
          <a:xfrm>
            <a:off x="960120" y="52578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Switchyard &amp; Pile Casting completion</a:t>
            </a:r>
            <a:endParaRPr lang="en-US" sz="780" dirty="0"/>
          </a:p>
        </p:txBody>
      </p:sp>
      <p:sp>
        <p:nvSpPr>
          <p:cNvPr id="56" name="Shape 50"/>
          <p:cNvSpPr/>
          <p:nvPr/>
        </p:nvSpPr>
        <p:spPr>
          <a:xfrm>
            <a:off x="8229600" y="5285232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229600" y="52852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B981"/>
                </a:solidFill>
              </a:rPr>
              <a:t>Milestone Gate</a:t>
            </a:r>
            <a:endParaRPr lang="en-US" sz="680" dirty="0"/>
          </a:p>
        </p:txBody>
      </p:sp>
      <p:sp>
        <p:nvSpPr>
          <p:cNvPr id="58" name="Text 52"/>
          <p:cNvSpPr/>
          <p:nvPr/>
        </p:nvSpPr>
        <p:spPr>
          <a:xfrm>
            <a:off x="9829800" y="5257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Due 28 Oct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Confidential. Prepared for Swelect Energy Systems Ltd by Dexler Energy.</a:t>
            </a:r>
            <a:endParaRPr lang="en-US" sz="850" dirty="0"/>
          </a:p>
        </p:txBody>
      </p:sp>
      <p:pic>
        <p:nvPicPr>
          <p:cNvPr id="3" name="Image 0" descr="H:\weekly progress application\extracted_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46304"/>
            <a:ext cx="164592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Client Actions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0" y="475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Swelect Energy Systems Ltd  ·  Week 43  ·  17 Oct 2026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789920" y="6080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5166360" cy="4800600"/>
          </a:xfrm>
          <a:prstGeom prst="roundRect">
            <a:avLst>
              <a:gd name="adj" fmla="val 114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0972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PROJECT RISKS &amp; BOTTLENECK ITEMS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48006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5544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GO Name Transfer / Change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544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OPEN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14400" y="1874520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Description &amp; Current Status: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1440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Awaiting Shareholding Agreement from Swelect.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14400" y="2423160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Potential Project Impact: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14400" y="26060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Can affect the statutory approval timelines and COD synchronization schedule.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14400" y="2926080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6FF"/>
                </a:solidFill>
              </a:rPr>
              <a:t>Mitigation Strategy: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14400" y="3090672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Dexler liaison team actively coordinating with Swelect legal team to expedite draft execution.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731520" y="3474720"/>
            <a:ext cx="4800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6118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Transmission Line RoW &amp; Bay Synchronization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60520" y="361188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60520" y="36118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66FF"/>
                </a:solidFill>
              </a:rPr>
              <a:t>CRITICAL PATH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914400" y="3931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Right of Way clearance and Bay work payment sanctions are tracked daily to maintain target COD alignment.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914400" y="475488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Client points of contact: Dexler Project Delivery team.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172200" y="960120"/>
            <a:ext cx="5166360" cy="4800600"/>
          </a:xfrm>
          <a:prstGeom prst="roundRect">
            <a:avLst>
              <a:gd name="adj" fmla="val 114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55080" y="10972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WHAT WE NEED FROM YOU (CLIENT ACTIONS)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55080" y="1417320"/>
            <a:ext cx="4800600" cy="1691640"/>
          </a:xfrm>
          <a:prstGeom prst="roundRect">
            <a:avLst>
              <a:gd name="adj" fmla="val 3243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1554480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ACTION ITEM 1: Share Holding Agreement Execution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537960" y="1874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Awaiting Share Holding Agreement from Swelect Management.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537960" y="2240280"/>
            <a:ext cx="4434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F4444"/>
                </a:solidFill>
              </a:rPr>
              <a:t>Urgency / Critical Dependency: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6537960" y="242316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This agreement is the primary prerequisite for Government Order (GO) Name Transfer sanction. Without this document, statutory evacuation clearance cannot proceed.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355080" y="3246120"/>
            <a:ext cx="4800600" cy="1691640"/>
          </a:xfrm>
          <a:prstGeom prst="roundRect">
            <a:avLst>
              <a:gd name="adj" fmla="val 3243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3383280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ACTION ITEM 2: Commercial Payment Clearance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37960" y="37033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Request for 25% payment towards other Class 1 materials and construction materials.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537960" y="4160520"/>
            <a:ext cx="4434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7A00"/>
                </a:solidFill>
              </a:rPr>
              <a:t>Commercial Justification &amp; Site Impact: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6537960" y="43434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Disbursement is required to release long-lead vendor dispatches (Inverter stations, Bay equipment, balance of system structural elements) to maintain schedule momentum.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537960" y="516636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Escalation Level: Immediate Executive Review · Requested by Dexler PMO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Dexler 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Swelect Energy Systems Ltd - Weekly Project Report</dc:title>
  <dc:subject>Swelect Energy Systems Ltd - Weekly Project Report (Week 43)</dc:subject>
  <dc:creator>Dexler Energy Project Delivery</dc:creator>
  <cp:lastModifiedBy>Dexler Energy Project Delivery</cp:lastModifiedBy>
  <cp:revision>1</cp:revision>
  <dcterms:created xsi:type="dcterms:W3CDTF">2026-10-30T10:03:00Z</dcterms:created>
  <dcterms:modified xsi:type="dcterms:W3CDTF">2026-10-30T10:03:00Z</dcterms:modified>
</cp:coreProperties>
</file>